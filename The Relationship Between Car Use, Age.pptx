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The Relationship Between Car Use, Age, and Accidents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/>
              <a:t>An R-Based Analysis of Car Insurance </a:t>
            </a:r>
            <a:r>
              <a:rPr lang="en-ZA" dirty="0" smtClean="0"/>
              <a:t>Data</a:t>
            </a:r>
          </a:p>
          <a:p>
            <a:endParaRPr lang="en-ZA" dirty="0"/>
          </a:p>
          <a:p>
            <a:r>
              <a:rPr lang="en-ZA" dirty="0" smtClean="0"/>
              <a:t>PRESENTED BY Thapelo mAtlejoane</a:t>
            </a:r>
          </a:p>
          <a:p>
            <a:r>
              <a:rPr lang="en-ZA" dirty="0" smtClean="0"/>
              <a:t> date   &gt; 18 sepTEMBER 2025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8638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Data Import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556084"/>
            <a:ext cx="9905999" cy="4555957"/>
          </a:xfrm>
        </p:spPr>
        <p:txBody>
          <a:bodyPr>
            <a:normAutofit/>
          </a:bodyPr>
          <a:lstStyle/>
          <a:p>
            <a:r>
              <a:rPr lang="en-ZA" b="1" dirty="0"/>
              <a:t>Objective:</a:t>
            </a:r>
            <a:r>
              <a:rPr lang="en-ZA" dirty="0"/>
              <a:t> To prepare the raw dataset for analysis by addressing common </a:t>
            </a:r>
            <a:r>
              <a:rPr lang="en-ZA" dirty="0" smtClean="0"/>
              <a:t>data </a:t>
            </a:r>
            <a:r>
              <a:rPr lang="en-ZA" dirty="0"/>
              <a:t>issues</a:t>
            </a:r>
            <a:r>
              <a:rPr lang="en-ZA" dirty="0" smtClean="0"/>
              <a:t>.</a:t>
            </a:r>
          </a:p>
          <a:p>
            <a:r>
              <a:rPr lang="en-ZA" b="1" dirty="0" smtClean="0"/>
              <a:t>Key steps:</a:t>
            </a:r>
            <a:r>
              <a:rPr lang="en-ZA" dirty="0" smtClean="0"/>
              <a:t> </a:t>
            </a:r>
          </a:p>
          <a:p>
            <a:pPr marL="0" indent="0">
              <a:buNone/>
            </a:pPr>
            <a:r>
              <a:rPr lang="en-ZA" sz="2000" b="1" dirty="0" smtClean="0"/>
              <a:t>-</a:t>
            </a:r>
            <a:r>
              <a:rPr lang="en-ZA" b="1" dirty="0" smtClean="0"/>
              <a:t> </a:t>
            </a:r>
            <a:r>
              <a:rPr lang="en-ZA" dirty="0" smtClean="0"/>
              <a:t>Import: The Cars.csv dataset was loaded into R</a:t>
            </a:r>
          </a:p>
          <a:p>
            <a:pPr>
              <a:buFontTx/>
              <a:buChar char="-"/>
            </a:pPr>
            <a:r>
              <a:rPr lang="en-US" altLang="en-US" sz="2000" dirty="0" smtClean="0">
                <a:latin typeface="Arial" panose="020B0604020202020204" pitchFamily="34" charset="0"/>
              </a:rPr>
              <a:t>Missing </a:t>
            </a:r>
            <a:r>
              <a:rPr lang="en-US" altLang="en-US" sz="2000" dirty="0">
                <a:latin typeface="Arial" panose="020B0604020202020204" pitchFamily="34" charset="0"/>
              </a:rPr>
              <a:t>Data</a:t>
            </a:r>
            <a:r>
              <a:rPr lang="en-US" altLang="en-US" sz="2000" b="1" dirty="0">
                <a:latin typeface="Arial" panose="020B0604020202020204" pitchFamily="34" charset="0"/>
              </a:rPr>
              <a:t>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Confirmed and removed rows with missing values using </a:t>
            </a:r>
            <a:r>
              <a:rPr lang="en-US" altLang="en-US" sz="2000" dirty="0" smtClean="0">
                <a:latin typeface="Arial Unicode MS"/>
              </a:rPr>
              <a:t>na.omit</a:t>
            </a:r>
            <a:r>
              <a:rPr lang="en-US" altLang="en-US" sz="2000" dirty="0">
                <a:latin typeface="Arial Unicode MS"/>
              </a:rPr>
              <a:t>()</a:t>
            </a:r>
            <a:r>
              <a:rPr lang="en-US" altLang="en-US" sz="2000" dirty="0"/>
              <a:t>. </a:t>
            </a:r>
            <a:endParaRPr lang="en-US" altLang="en-US" sz="2000" dirty="0" smtClean="0"/>
          </a:p>
          <a:p>
            <a:pPr>
              <a:buFontTx/>
              <a:buChar char="-"/>
            </a:pPr>
            <a:r>
              <a:rPr lang="en-US" altLang="en-US" sz="2200" dirty="0">
                <a:latin typeface="Arial" panose="020B0604020202020204" pitchFamily="34" charset="0"/>
              </a:rPr>
              <a:t>Duplicates</a:t>
            </a:r>
            <a:r>
              <a:rPr lang="en-US" altLang="en-US" sz="2000" b="1" dirty="0">
                <a:latin typeface="Arial" panose="020B0604020202020204" pitchFamily="34" charset="0"/>
              </a:rPr>
              <a:t>:</a:t>
            </a:r>
            <a:r>
              <a:rPr lang="en-US" altLang="en-US" sz="2000" dirty="0">
                <a:latin typeface="Arial" panose="020B0604020202020204" pitchFamily="34" charset="0"/>
              </a:rPr>
              <a:t> Identified and removed duplicate rows to ensure each customer entry is unique using </a:t>
            </a:r>
            <a:r>
              <a:rPr lang="en-US" altLang="en-US" sz="2000" dirty="0">
                <a:latin typeface="Arial Unicode MS"/>
              </a:rPr>
              <a:t>distinct()</a:t>
            </a:r>
            <a:r>
              <a:rPr lang="en-US" altLang="en-US" sz="2000" dirty="0"/>
              <a:t> </a:t>
            </a:r>
            <a:endParaRPr lang="en-US" altLang="en-US" sz="2000" dirty="0" smtClean="0"/>
          </a:p>
          <a:p>
            <a:pPr>
              <a:buFontTx/>
              <a:buChar char="-"/>
            </a:pPr>
            <a:r>
              <a:rPr lang="en-US" altLang="en-US" sz="2000" b="1" dirty="0">
                <a:latin typeface="Arial" panose="020B0604020202020204" pitchFamily="34" charset="0"/>
              </a:rPr>
              <a:t>Outcome:</a:t>
            </a:r>
            <a:r>
              <a:rPr lang="en-US" altLang="en-US" sz="2000" dirty="0">
                <a:latin typeface="Arial" panose="020B0604020202020204" pitchFamily="34" charset="0"/>
              </a:rPr>
              <a:t> A </a:t>
            </a:r>
            <a:r>
              <a:rPr lang="en-US" altLang="en-US" sz="2000" dirty="0" smtClean="0">
                <a:latin typeface="Arial Unicode MS"/>
              </a:rPr>
              <a:t>clean_Cars_data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dataset ready for analysis.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endParaRPr lang="en-US" altLang="en-US" sz="2000" dirty="0" smtClean="0"/>
          </a:p>
          <a:p>
            <a:pPr>
              <a:buFontTx/>
              <a:buChar char="-"/>
            </a:pPr>
            <a:endParaRPr lang="en-US" altLang="en-US" sz="2000" dirty="0" smtClean="0"/>
          </a:p>
          <a:p>
            <a:pPr>
              <a:buFontTx/>
              <a:buChar char="-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endParaRPr lang="en-US" altLang="en-US" sz="2000" dirty="0"/>
          </a:p>
          <a:p>
            <a:pPr>
              <a:buFontTx/>
              <a:buChar char="-"/>
            </a:pPr>
            <a:endParaRPr lang="en-US" altLang="en-US" sz="2000" dirty="0" smtClean="0"/>
          </a:p>
          <a:p>
            <a:pPr>
              <a:buFontTx/>
              <a:buChar char="-"/>
            </a:pPr>
            <a:endParaRPr lang="en-US" altLang="en-US" sz="2000" dirty="0">
              <a:latin typeface="Arial" panose="020B0604020202020204" pitchFamily="34" charset="0"/>
            </a:endParaRPr>
          </a:p>
          <a:p>
            <a:endParaRPr lang="en-ZA" dirty="0" smtClean="0"/>
          </a:p>
        </p:txBody>
      </p:sp>
    </p:spTree>
    <p:extLst>
      <p:ext uri="{BB962C8B-B14F-4D97-AF65-F5344CB8AC3E}">
        <p14:creationId xmlns:p14="http://schemas.microsoft.com/office/powerpoint/2010/main" val="1562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Customer Accidents: Proportions and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6896997" cy="3541714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b="1" dirty="0" smtClean="0">
                <a:latin typeface="Arial" panose="020B0604020202020204" pitchFamily="34" charset="0"/>
              </a:rPr>
              <a:t>Objectives: </a:t>
            </a:r>
            <a:r>
              <a:rPr lang="en-US" altLang="en-US" dirty="0" smtClean="0">
                <a:latin typeface="Arial" panose="020B0604020202020204" pitchFamily="34" charset="0"/>
              </a:rPr>
              <a:t>To understand the proportion of customers who have ben in an accident.</a:t>
            </a:r>
          </a:p>
          <a:p>
            <a:r>
              <a:rPr lang="en-US" altLang="en-US" b="1" dirty="0" smtClean="0">
                <a:latin typeface="Arial" panose="020B0604020202020204" pitchFamily="34" charset="0"/>
              </a:rPr>
              <a:t>Key Findings: </a:t>
            </a:r>
          </a:p>
          <a:p>
            <a:pPr marL="0" indent="0"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-The proportion of customers who have had a recent accident (TARGET_FLAG = 1) is approximately 26%</a:t>
            </a:r>
          </a:p>
          <a:p>
            <a:r>
              <a:rPr lang="en-US" altLang="en-US" b="1" dirty="0" smtClean="0">
                <a:latin typeface="Arial" panose="020B0604020202020204" pitchFamily="34" charset="0"/>
              </a:rPr>
              <a:t>Visual:</a:t>
            </a:r>
          </a:p>
          <a:p>
            <a:pPr marL="0" indent="0">
              <a:buNone/>
            </a:pPr>
            <a:r>
              <a:rPr lang="en-US" altLang="en-US" b="1" dirty="0" smtClean="0">
                <a:latin typeface="Arial" panose="020B0604020202020204" pitchFamily="34" charset="0"/>
              </a:rPr>
              <a:t>- Bar Plot of Accidents Status: </a:t>
            </a:r>
            <a:r>
              <a:rPr lang="en-US" altLang="en-US" dirty="0" smtClean="0">
                <a:latin typeface="Arial" panose="020B0604020202020204" pitchFamily="34" charset="0"/>
              </a:rPr>
              <a:t>A bar plot shows the count of customers who have had an accidents versus those who have not. The bar for “No Accidents” is significantly taller than the bar for “Accident” </a:t>
            </a:r>
          </a:p>
          <a:p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05404" y="1491916"/>
            <a:ext cx="3965754" cy="429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29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166255"/>
            <a:ext cx="9905998" cy="1004819"/>
          </a:xfrm>
        </p:spPr>
        <p:txBody>
          <a:bodyPr>
            <a:normAutofit/>
          </a:bodyPr>
          <a:lstStyle/>
          <a:p>
            <a:r>
              <a:rPr lang="en-ZA" dirty="0"/>
              <a:t>Car Use and Accidents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504" y="1010653"/>
            <a:ext cx="8245643" cy="4732421"/>
          </a:xfrm>
        </p:spPr>
        <p:txBody>
          <a:bodyPr>
            <a:normAutofit fontScale="62500" lnSpcReduction="20000"/>
          </a:bodyPr>
          <a:lstStyle/>
          <a:p>
            <a:r>
              <a:rPr lang="en-ZA" sz="2900" b="1" dirty="0" smtClean="0"/>
              <a:t>Objectives:</a:t>
            </a:r>
            <a:r>
              <a:rPr lang="en-ZA" dirty="0" smtClean="0"/>
              <a:t> To investigate the relationship between a car’s use type (Private vs Commercial) and the likelihood of an accident.</a:t>
            </a:r>
          </a:p>
          <a:p>
            <a:r>
              <a:rPr lang="en-ZA" sz="2900" b="1" dirty="0" smtClean="0"/>
              <a:t>Key Steps:</a:t>
            </a:r>
          </a:p>
          <a:p>
            <a:pPr>
              <a:buFontTx/>
              <a:buChar char="-"/>
            </a:pPr>
            <a:r>
              <a:rPr lang="en-ZA" dirty="0" smtClean="0"/>
              <a:t>Data conversion: converted CAR_USE AND TARGET_FLAG to numeric formats for modelling.</a:t>
            </a:r>
          </a:p>
          <a:p>
            <a:pPr>
              <a:buFontTx/>
              <a:buChar char="-"/>
            </a:pPr>
            <a:r>
              <a:rPr lang="en-ZA" dirty="0" smtClean="0"/>
              <a:t>Correlation: Calculated the correlation coefficient between car use type and accidents status</a:t>
            </a:r>
          </a:p>
          <a:p>
            <a:r>
              <a:rPr lang="en-ZA" sz="2900" b="1" dirty="0" smtClean="0"/>
              <a:t>Key Findings: </a:t>
            </a:r>
          </a:p>
          <a:p>
            <a:pPr>
              <a:buFontTx/>
              <a:buChar char="-"/>
            </a:pPr>
            <a:r>
              <a:rPr lang="en-ZA" dirty="0" smtClean="0"/>
              <a:t>A positive correlation exists , suggesting a link between commercial use and a higher likelihood of an accident.</a:t>
            </a:r>
          </a:p>
          <a:p>
            <a:pPr>
              <a:buFontTx/>
              <a:buChar char="-"/>
            </a:pPr>
            <a:r>
              <a:rPr lang="en-ZA" dirty="0" smtClean="0"/>
              <a:t>Logistic Regression: A statistical model was created to predict the likelihood of an accident based on car use.</a:t>
            </a:r>
          </a:p>
          <a:p>
            <a:r>
              <a:rPr lang="en-ZA" sz="2900" b="1" dirty="0" smtClean="0"/>
              <a:t>Visual:</a:t>
            </a:r>
          </a:p>
          <a:p>
            <a:pPr marL="0" indent="0">
              <a:buNone/>
            </a:pPr>
            <a:r>
              <a:rPr lang="en-ZA" sz="2900" b="1" dirty="0" smtClean="0"/>
              <a:t>-Bar Plot of Accidents by Car Use: </a:t>
            </a:r>
            <a:r>
              <a:rPr lang="en-ZA" sz="2900" dirty="0" smtClean="0"/>
              <a:t>This plot  visually compares the number of accidents for private versus commercial vehicles. It shows a clear difference, with more commercial vehicles having accidents on car use.</a:t>
            </a:r>
            <a:endParaRPr lang="en-ZA" sz="29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562" y="1171074"/>
            <a:ext cx="3558757" cy="4572000"/>
          </a:xfrm>
        </p:spPr>
      </p:pic>
    </p:spTree>
    <p:extLst>
      <p:ext uri="{BB962C8B-B14F-4D97-AF65-F5344CB8AC3E}">
        <p14:creationId xmlns:p14="http://schemas.microsoft.com/office/powerpoint/2010/main" val="239893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48808"/>
          </a:xfrm>
        </p:spPr>
        <p:txBody>
          <a:bodyPr/>
          <a:lstStyle/>
          <a:p>
            <a:r>
              <a:rPr lang="en-ZA" dirty="0"/>
              <a:t>Accidents by Age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1267326"/>
            <a:ext cx="6382337" cy="4523874"/>
          </a:xfrm>
        </p:spPr>
        <p:txBody>
          <a:bodyPr>
            <a:normAutofit fontScale="70000" lnSpcReduction="20000"/>
          </a:bodyPr>
          <a:lstStyle/>
          <a:p>
            <a:r>
              <a:rPr lang="en-ZA" dirty="0" smtClean="0"/>
              <a:t>Objective: To see if age plays a role in the number of accidents.</a:t>
            </a:r>
          </a:p>
          <a:p>
            <a:r>
              <a:rPr lang="en-ZA" dirty="0" smtClean="0"/>
              <a:t>Key Steps: </a:t>
            </a:r>
          </a:p>
          <a:p>
            <a:pPr>
              <a:buFontTx/>
              <a:buChar char="-"/>
            </a:pPr>
            <a:r>
              <a:rPr lang="en-ZA" dirty="0" smtClean="0"/>
              <a:t>Age Bins: The age variables was divided into three bins: less than 35,35 to 50, and 50+.</a:t>
            </a:r>
          </a:p>
          <a:p>
            <a:r>
              <a:rPr lang="en-ZA" dirty="0" smtClean="0"/>
              <a:t>Key Findings: </a:t>
            </a:r>
          </a:p>
          <a:p>
            <a:pPr>
              <a:buFontTx/>
              <a:buChar char="-"/>
            </a:pPr>
            <a:r>
              <a:rPr lang="en-ZA" dirty="0" smtClean="0"/>
              <a:t>The bar graph reveals the number of accidents for each age group. It may show that a particular age group ,perhaps the youngest or oldest, has a disproportionate number of accidents.</a:t>
            </a:r>
          </a:p>
          <a:p>
            <a:r>
              <a:rPr lang="en-ZA" dirty="0"/>
              <a:t> </a:t>
            </a:r>
            <a:r>
              <a:rPr lang="en-ZA" dirty="0" smtClean="0"/>
              <a:t>Visual: </a:t>
            </a:r>
          </a:p>
          <a:p>
            <a:pPr marL="0" indent="0">
              <a:buNone/>
            </a:pPr>
            <a:r>
              <a:rPr lang="en-ZA" dirty="0" smtClean="0"/>
              <a:t>-Bar Plot of Accidents by Age Bin: </a:t>
            </a:r>
            <a:r>
              <a:rPr lang="en-ZA" sz="2600" dirty="0" smtClean="0"/>
              <a:t>This graph shows </a:t>
            </a:r>
            <a:r>
              <a:rPr lang="en-ZA" sz="2600" dirty="0" err="1" smtClean="0"/>
              <a:t>te</a:t>
            </a:r>
            <a:r>
              <a:rPr lang="en-ZA" sz="2600" dirty="0" smtClean="0"/>
              <a:t> total number of accidents for each age group</a:t>
            </a:r>
            <a:endParaRPr lang="en-ZA" sz="2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162" y="618518"/>
            <a:ext cx="4538605" cy="4803713"/>
          </a:xfrm>
        </p:spPr>
      </p:pic>
    </p:spTree>
    <p:extLst>
      <p:ext uri="{BB962C8B-B14F-4D97-AF65-F5344CB8AC3E}">
        <p14:creationId xmlns:p14="http://schemas.microsoft.com/office/powerpoint/2010/main" val="59286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52556"/>
          </a:xfrm>
        </p:spPr>
        <p:txBody>
          <a:bodyPr>
            <a:normAutofit fontScale="90000"/>
          </a:bodyPr>
          <a:lstStyle/>
          <a:p>
            <a:r>
              <a:rPr lang="en-ZA" dirty="0"/>
              <a:t>Red Car Ownership by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1" y="1171074"/>
            <a:ext cx="6478590" cy="4620126"/>
          </a:xfrm>
        </p:spPr>
        <p:txBody>
          <a:bodyPr>
            <a:normAutofit fontScale="85000" lnSpcReduction="20000"/>
          </a:bodyPr>
          <a:lstStyle/>
          <a:p>
            <a:r>
              <a:rPr lang="en-ZA" dirty="0" smtClean="0"/>
              <a:t>Objective: To analyze a fun fact: the percentage of </a:t>
            </a:r>
            <a:r>
              <a:rPr lang="en-ZA" dirty="0" err="1" smtClean="0"/>
              <a:t>peole</a:t>
            </a:r>
            <a:r>
              <a:rPr lang="en-ZA" dirty="0" smtClean="0"/>
              <a:t> who own a red car within each age group.</a:t>
            </a:r>
          </a:p>
          <a:p>
            <a:r>
              <a:rPr lang="en-ZA" dirty="0" smtClean="0"/>
              <a:t>Key Step: </a:t>
            </a:r>
          </a:p>
          <a:p>
            <a:pPr marL="0" indent="0">
              <a:buNone/>
            </a:pPr>
            <a:r>
              <a:rPr lang="en-ZA" dirty="0" smtClean="0"/>
              <a:t>-Data Aggregation: Calculated the percentage of red car owners for each age bin.</a:t>
            </a:r>
          </a:p>
          <a:p>
            <a:r>
              <a:rPr lang="en-ZA" dirty="0" smtClean="0"/>
              <a:t>Key Findings: </a:t>
            </a:r>
          </a:p>
          <a:p>
            <a:pPr>
              <a:buFontTx/>
              <a:buChar char="-"/>
            </a:pPr>
            <a:r>
              <a:rPr lang="en-ZA" dirty="0" smtClean="0"/>
              <a:t>The analysis reveals if red car ownership is more common in a specific age group.</a:t>
            </a:r>
          </a:p>
          <a:p>
            <a:r>
              <a:rPr lang="en-ZA" dirty="0" smtClean="0"/>
              <a:t>Visual: </a:t>
            </a:r>
          </a:p>
          <a:p>
            <a:pPr marL="0" indent="0">
              <a:buNone/>
            </a:pPr>
            <a:r>
              <a:rPr lang="en-ZA" dirty="0" smtClean="0"/>
              <a:t>-Bar Plot of Red Ownership Percentage: This bar plot shows the percentage of red car owners for each age bin, making it easy to compare across groups.</a:t>
            </a: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618518"/>
            <a:ext cx="4395537" cy="5172682"/>
          </a:xfrm>
        </p:spPr>
      </p:pic>
    </p:spTree>
    <p:extLst>
      <p:ext uri="{BB962C8B-B14F-4D97-AF65-F5344CB8AC3E}">
        <p14:creationId xmlns:p14="http://schemas.microsoft.com/office/powerpoint/2010/main" val="83044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9019"/>
          </a:xfrm>
        </p:spPr>
        <p:txBody>
          <a:bodyPr/>
          <a:lstStyle/>
          <a:p>
            <a:r>
              <a:rPr lang="en-ZA" dirty="0"/>
              <a:t>Summary of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1347537"/>
            <a:ext cx="6510674" cy="4443663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Overall Conclusions</a:t>
            </a:r>
            <a:r>
              <a:rPr lang="en-ZA" dirty="0" smtClean="0"/>
              <a:t>:</a:t>
            </a:r>
          </a:p>
          <a:p>
            <a:pPr marL="0" indent="0">
              <a:buNone/>
            </a:pPr>
            <a:r>
              <a:rPr lang="en-ZA" dirty="0" smtClean="0"/>
              <a:t>- Accident Proportions: About a quarter of customers have an accident.</a:t>
            </a:r>
          </a:p>
          <a:p>
            <a:pPr marL="0" indent="0">
              <a:buNone/>
            </a:pPr>
            <a:r>
              <a:rPr lang="en-ZA" dirty="0" smtClean="0"/>
              <a:t>- Car Use Impact: Commercial vehicles have a higher risk of accidents than private vehicles.</a:t>
            </a:r>
          </a:p>
          <a:p>
            <a:r>
              <a:rPr lang="en-ZA" dirty="0" smtClean="0"/>
              <a:t>Recommendations: </a:t>
            </a:r>
          </a:p>
          <a:p>
            <a:pPr marL="0" indent="0">
              <a:buNone/>
            </a:pPr>
            <a:r>
              <a:rPr lang="en-ZA" dirty="0" smtClean="0"/>
              <a:t>- Use these insights to inform risk assessment and insurance premium calculations. For example , commercial vehicles and certain age groups may require higher premiums.</a:t>
            </a:r>
          </a:p>
        </p:txBody>
      </p:sp>
    </p:spTree>
    <p:extLst>
      <p:ext uri="{BB962C8B-B14F-4D97-AF65-F5344CB8AC3E}">
        <p14:creationId xmlns:p14="http://schemas.microsoft.com/office/powerpoint/2010/main" val="35460569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374</TotalTime>
  <Words>594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Trebuchet MS</vt:lpstr>
      <vt:lpstr>Tw Cen MT</vt:lpstr>
      <vt:lpstr>Circuit</vt:lpstr>
      <vt:lpstr>The Relationship Between Car Use, Age, and Accidents</vt:lpstr>
      <vt:lpstr>Data Import &amp; Cleaning</vt:lpstr>
      <vt:lpstr>Customer Accidents: Proportions and Visuals</vt:lpstr>
      <vt:lpstr>Car Use and Accidents</vt:lpstr>
      <vt:lpstr>Accidents by Age Group</vt:lpstr>
      <vt:lpstr>Red Car Ownership by Age</vt:lpstr>
      <vt:lpstr>Summary of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Relationship Between Car Use, Age, and Accidents</dc:title>
  <dc:creator>Windows User</dc:creator>
  <cp:lastModifiedBy>Windows User</cp:lastModifiedBy>
  <cp:revision>19</cp:revision>
  <dcterms:created xsi:type="dcterms:W3CDTF">2025-09-18T07:26:31Z</dcterms:created>
  <dcterms:modified xsi:type="dcterms:W3CDTF">2025-09-18T13:40:52Z</dcterms:modified>
</cp:coreProperties>
</file>